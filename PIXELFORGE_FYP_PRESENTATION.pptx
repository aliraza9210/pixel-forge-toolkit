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respected committee members. Today I am presenting PixelForge, a comprehensive digital asset engineering platform. Unlike traditional single-purpose tools, PixelForge is an all-in-one suite engineered on the modern MERN stack coupled with compiled native C++ bindings for blazing fast image, PDF, and AI processing without consumer subscriptions.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establish the core motivation. Users currently experience severe fragmentation, juggling multiple separate websites like iLovePDF, TinyPNG, and Remove.bg. Furthermore, platforms like SmallPDF have restricted free users to only 2 tasks per day, while proprietary tools store sensitive documents on remote servers without cryptographic lifecycle deletion guarantees.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PixelForge directly solves these problems through three architectural pillars: First, unifying 114+ tools into a single coherent workspace. Second, a strict Zero-Trust ephemeral privacy model where all files are destroyed automatically after 60 minutes. Third, utilizing compiled native C++ bindings for libvips and PDF-Lib, achieving sub-120ms latencies without shell injection risks.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the complete MERN engineering stack. Walk the examiners through the 4 tiers: The React 19 frontend with 24kB initial bundle and 3D visual canvas; Express gateway with Multer field normalization; Compiled libvips native engine bindings executing in-memory; and the dual persistence layer using MongoDB TTL indexes paired with an atomic disk registry that survives database outages and worker reboots.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the file lifecycle: User drops files in browser, MIME headers are strictly verified, Multer normalizes payloads, native C++ libvips buffers perform multi-threaded transforms, an ephemeral UUIDv4 token is generated, and a background daemon automatically executes disk purges after 60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the functional scope: 62 Image tools, 19 PDF utilities, and 7 AI tools. Emphasize practical real-world features such as government exam/passport photo resizing, official document encryption, and neural OCR. All 88 active tools share a single unified workspace runner with batch queueing.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benchmark table is your strongest competitive defense. Walk through each row: PixelForge unites images, PDFs, and AI in 114+ tools compared to only 20-25 tools on iLovePDF or SmallPDF. SmallPDF restricts free users to 2 tasks per day and charges $12/month, while PixelForge provides unlimited usage, a strict 60-minute cryptographic purge policy, and a modern 3D interface with zero advertisements.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 empirical SQA evidence: All 88 active tools were verified end-to-end with genuine test fixtures, achieving a 100% pass rate. All 35 Jest tests across 5 server suites pass cleanly. Walk through the 4 resolved defects: Multer FormData normalization, AI image route isolation, strict CORS whitelist validation, and multi-worker atomic registry persistence.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Conclude the defense presentation. Summarize the academic contributions (buffer streaming without shell injection), the societal impact (eliminating predatory subscriptions for students and creators), and our future roadmap toward client-side WebAssembly for completely offline edge execution. Thank the committee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346704" y="731520"/>
            <a:ext cx="5486400" cy="411480"/>
          </a:xfrm>
          <a:prstGeom prst="roundRect">
            <a:avLst/>
          </a:prstGeom>
          <a:solidFill>
            <a:srgbClr val="19261C"/>
          </a:solidFill>
          <a:ln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A3E635"/>
                </a:solidFill>
              </a:defRPr>
            </a:pPr>
            <a:r>
              <a:t>FINAL YEAR PROJECT (FYP) CAPSTONE DEFENSE • BSCS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8FAFC"/>
                </a:solidFill>
              </a:defRPr>
            </a:pPr>
            <a:r>
              <a:t>Next-Generation Digital Asset Engineering Platform</a:t>
            </a:r>
          </a:p>
          <a:p>
            <a:pPr algn="ctr">
              <a:spcBef>
                <a:spcPts val="1000"/>
              </a:spcBef>
              <a:defRPr sz="1500">
                <a:solidFill>
                  <a:srgbClr val="94A3B8"/>
                </a:solidFill>
              </a:defRPr>
            </a:pPr>
            <a:r>
              <a:t>A high-throughput, privacy-first MERN architecture unifying 114+ production tools for images, vector PDFs, and document AI.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91840"/>
            <a:ext cx="2468880" cy="164592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A3E635"/>
                </a:solidFill>
              </a:defRPr>
            </a:pPr>
            <a:r>
              <a:t>114+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Production Tools Built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88 Active • 26 Coming Soon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3291840"/>
            <a:ext cx="2468880" cy="164592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38BDF8"/>
                </a:solidFill>
              </a:defRPr>
            </a:pPr>
            <a:r>
              <a:t>5x Faster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Sharp Engine Speed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Compiled Native libvips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291840"/>
            <a:ext cx="2468880" cy="164592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60 Min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Zero-Trust Auto-Purge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Cryptographic Ephemeral TTL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3291840"/>
            <a:ext cx="2468880" cy="164592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A3E635"/>
                </a:solidFill>
              </a:defRPr>
            </a:pPr>
            <a:r>
              <a:t>100% Free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Zero Paywalls or Ads</a:t>
            </a:r>
          </a:p>
          <a:p>
            <a:pPr algn="ctr"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No Subscription Trap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</a:defRPr>
            </a:pPr>
            <a:r>
              <a:t>Engineered by: Muhammad Ali Raza   |   Stack: React 19 + Express 4 + MongoDB 8 + Sharp + PDF-Lib   |   Status: Production Ready</a:t>
            </a:r>
          </a:p>
        </p:txBody>
      </p:sp>
    </p:spTree>
  </p:cSld>
  <p:clrMapOvr>
    <a:masterClrMapping/>
  </p:clrMapOvr>
  <p:transition spd="med">
    <p:push dir="r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19261C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3E635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The Fragmentation of Online Utilities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A3E635"/>
                </a:solidFill>
                <a:latin typeface="Arial"/>
              </a:defRPr>
            </a:pPr>
            <a:r>
              <a:t>02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219456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F43F5E"/>
                </a:solidFill>
                <a:latin typeface="Arial"/>
              </a:defRPr>
            </a:pPr>
            <a:r>
              <a:t>1. Ecosystem Fragmentation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Users are forced to juggle 4–6 single-purpose websites: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iLovePDF for merging and splitting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TinyPNG for image compression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Remove.bg for portrait cutouts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CloudConvert for format conversions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Result: Broken workflows, duplicated uploads, and lost productivity.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219456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2. Aggressive Paywalls &amp; Restrictions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Free tiers have been aggressively throttled across the web: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SmallPDF restricts users to only 2 tasks per day.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File sizes are capped below 5MB without paid plans.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Essential OCR &amp; Word-to-PDF locked behind $7–$12/month fees.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Students and professionals are trapped in recurring subscriptions.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A855F7"/>
                </a:solidFill>
                <a:latin typeface="Arial"/>
              </a:defRPr>
            </a:pPr>
            <a:r>
              <a:t>3. Data Privacy &amp; Retention Risks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Confidential documents are exposed to serious vulnerabilities: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Legal contracts, invoices, and academic records uploaded to unknown cloud silos.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No verifiable cryptographic lifecycle guarantees.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No instant manual self-destruction options for processed files.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023360"/>
            <a:ext cx="5120640" cy="219456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F43F5E"/>
                </a:solidFill>
                <a:latin typeface="Arial"/>
              </a:defRPr>
            </a:pPr>
            <a:r>
              <a:t>4. Heavy Ad Clutter &amp; Security Hazards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Ad-driven utility portals compromise security and performance: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Deceptive 'Download' bait banners lead to malware.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15+ external tracker scripts degrade browser speed.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Frequent phishing redirects and telemetry harvesting.</a:t>
            </a:r>
          </a:p>
        </p:txBody>
      </p:sp>
    </p:spTree>
  </p:cSld>
  <p:clrMapOvr>
    <a:masterClrMapping/>
  </p:clrMapOvr>
  <p:transition spd="med">
    <p:push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19261C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3E635"/>
                </a:solidFill>
                <a:latin typeface="Arial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PixelForge: The Unified All-in-One Paradigm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A3E635"/>
                </a:solidFill>
                <a:latin typeface="Arial"/>
              </a:defRPr>
            </a:pPr>
            <a:r>
              <a:t>03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384048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A3E635"/>
                </a:solidFill>
                <a:latin typeface="Arial"/>
              </a:defRPr>
            </a:pPr>
            <a:r>
              <a:t>Unified 114+ Suite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Consolidates all tools under a single seamless web UI: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62 Image processing &amp; conversion tools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19 Vector PDF manipulation utilities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7 Document AI &amp; smart developer tools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26 Future-ready coming soon modules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Single URL, persistent workspace, zero tab hopping.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645920"/>
            <a:ext cx="3328416" cy="384048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Zero-Trust Ephemeral Privacy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Strict cryptographic data protection lifecycle: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Every output gets an unguessable UUIDv4 token.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Automated disk daemon purges files after 60 minutes.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Instant 1-click manual self-destruction button.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Files never stored on permanent third-party cloud lakes.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100% private, anonymous, and unindexed.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328416" cy="384048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6366F1"/>
                </a:solidFill>
                <a:latin typeface="Arial"/>
              </a:defRPr>
            </a:pPr>
            <a:r>
              <a:t>Compiled Native Engine Speed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Replaces slow interpreted script wrappers: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Multi-threaded libvips C++ engine via Sharp 0.35.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Sub-120ms execution for image transformations.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Direct vector PDF buffer manipulations via PDF-Lib.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Zero shell execution vulnerabilities.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Enterprise-grade throughput at zero consumer cost.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69280"/>
            <a:ext cx="10698480" cy="548640"/>
          </a:xfrm>
          <a:prstGeom prst="roundRect">
            <a:avLst/>
          </a:prstGeom>
          <a:solidFill>
            <a:srgbClr val="142319"/>
          </a:solidFill>
          <a:ln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A3E635"/>
                </a:solidFill>
              </a:defRPr>
            </a:pPr>
            <a:r>
              <a:t>CORE ADVANTAGE: 100% Free Forever  •  No Account Needed  •  No Credit Cards  •  Zero Ad Banners</a:t>
            </a:r>
          </a:p>
        </p:txBody>
      </p:sp>
    </p:spTree>
  </p:cSld>
  <p:clrMapOvr>
    <a:masterClrMapping/>
  </p:clrMapOvr>
  <p:transition spd="med">
    <p:push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19261C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3E635"/>
                </a:solidFill>
                <a:latin typeface="Arial"/>
              </a:defRPr>
            </a:pPr>
            <a:r>
              <a:t>TECHNICAL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Full-Stack MERN + Native C++ Processing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A3E635"/>
                </a:solidFill>
                <a:latin typeface="Arial"/>
              </a:defRPr>
            </a:pPr>
            <a:r>
              <a:t>04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384048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A3E635"/>
                </a:solidFill>
                <a:latin typeface="Arial"/>
              </a:defRPr>
            </a:pPr>
            <a:r>
              <a:t>Tier 1: Client Layer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React 19 + Vite 8 Architecture: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Route-based lazy code splitting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Initial bundle size: Only 24 kB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Three.js WebGL 3D particle background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Framer Motion 14 interactive physics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Zustand lightweight reactive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384048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Tier 2: API Gateway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Express 4 REST Gateway: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Strict CORS whitelisting logic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Multer flexible field normalizer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Rate-limiting: 200 req / 15 min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Helmet HTTP security headers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Unified JSON error reporting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384048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A855F7"/>
                </a:solidFill>
                <a:latin typeface="Arial"/>
              </a:defRPr>
            </a:pPr>
            <a:r>
              <a:t>Tier 3: Native Engines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Compiled Binary Processors: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Sharp 0.35 (libvips multi-threaded)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PDF-Lib (Vector DOM manipulation)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Mammoth (DOCX AST parser)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Tesseract.js (Neural OCR engine)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Direct in-memory buffer streaming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645920"/>
            <a:ext cx="2468880" cy="384048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6366F1"/>
                </a:solidFill>
                <a:latin typeface="Arial"/>
              </a:defRPr>
            </a:pPr>
            <a:r>
              <a:t>Tier 4: Dual Persistence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Fault-Tolerant Storage: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MongoDB 8 with 24h TTL purge index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Standalone disk-resilient mode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Multi-worker registry synchronization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Atomic .registry.json fallback sync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Automated 30-min sweep daemon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669280"/>
            <a:ext cx="10698480" cy="54864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8FAFC"/>
                </a:solidFill>
              </a:defRPr>
            </a:pPr>
            <a:r>
              <a:t>PIPELINE FLOW:  Client Drag &amp; Drop  ➔  Multer Normalizer  ➔  Native Buffer Stream  ➔  UUIDv4 Registry  ➔  60-Min TTL Purge</a:t>
            </a:r>
          </a:p>
        </p:txBody>
      </p:sp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19261C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3E635"/>
                </a:solidFill>
                <a:latin typeface="Arial"/>
              </a:defRPr>
            </a:pPr>
            <a:r>
              <a:t>OPERATIONAL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End-to-End Processing &amp; Zero-Trust Ephemeral 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A3E635"/>
                </a:solidFill>
                <a:latin typeface="Arial"/>
              </a:defRPr>
            </a:pPr>
            <a:r>
              <a:t>05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86868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A3E635"/>
                </a:solidFill>
              </a:defRPr>
            </a:pPr>
            <a:r>
              <a:t>Step 01: Client-Side Intake &amp; Verification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Drag-and-drop workspace validates MIME magic numbers and file extensions (JPG, PNG, WebP, PDF, DOCX) in the browser before network transmission.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Prevents malformed payloads and malicious binary uploads at the edge.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79192"/>
            <a:ext cx="10698480" cy="86868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Step 02: Normalized Stream Processing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Express gateway normalizes both single-file ('file') and multi-file ('files') form payloads seamlessly.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Sanitizes filenames to prevent path traversal directory escaping vulnerabilities.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12464"/>
            <a:ext cx="10698480" cy="86868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A855F7"/>
                </a:solidFill>
              </a:defRPr>
            </a:pPr>
            <a:r>
              <a:t>Step 03: Direct Buffer Transformations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Streams files directly into native memory buffers via libvips or PDF-Lib without executing external OS shell commands.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Complete immunity against shell injection attacks.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45736"/>
            <a:ext cx="10698480" cy="86868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366F1"/>
                </a:solidFill>
              </a:defRPr>
            </a:pPr>
            <a:r>
              <a:t>Step 04: UUIDv4 Tokenization &amp; Ephemeral Purge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Output file is registered with an unguessable UUIDv4 token stored in atomic disk registry.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A background daemon automatically destroys processed files after 60 minutes, with an immediate 1-click self-destruction option.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669280"/>
            <a:ext cx="10698480" cy="502920"/>
          </a:xfrm>
          <a:prstGeom prst="roundRect">
            <a:avLst/>
          </a:prstGeom>
          <a:solidFill>
            <a:srgbClr val="1E1428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8FAFC"/>
                </a:solidFill>
              </a:defRPr>
            </a:pPr>
            <a:r>
              <a:t>PRIVACY GUARANTEE: User documents are NEVER permanently stored, never shared, and never used to train AI models.</a:t>
            </a:r>
          </a:p>
        </p:txBody>
      </p:sp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19261C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3E635"/>
                </a:solidFill>
                <a:latin typeface="Arial"/>
              </a:defRPr>
            </a:pPr>
            <a:r>
              <a:t>CAPABILITIES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Core Feature Suites (88 Active Tools Inventory)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A3E635"/>
                </a:solidFill>
                <a:latin typeface="Arial"/>
              </a:defRPr>
            </a:pPr>
            <a:r>
              <a:t>06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384048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A3E635"/>
                </a:solidFill>
                <a:latin typeface="Arial"/>
              </a:defRPr>
            </a:pPr>
            <a:r>
              <a:t>Image Suite (62 Tools)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Universal Format Conversion (WebP, JPG, PNG, AVIF, HEIC, SVG)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Bulk Image Compression with automatic ZIP bundling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Official Exam &amp; Passport Resize (35x45mm, 2x2 inch, SSC/UPSC)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AI Portrait Background Removal &amp; Edge Masking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Social Media Crop &amp; 9-Grid Splitters (YouTube, Instagram, X)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EXIF Metadata Extraction &amp; Privacy Stripping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645920"/>
            <a:ext cx="3328416" cy="384048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PDF Engineering (19 Tools)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High-Performance Vector Merge, Split &amp; Range Extract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Selective Page Reordering &amp; Visual Page Deletion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128-Bit AES Password Encryption, Decryption &amp; Permissions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Bi-Directional Word-to-PDF &amp; PDF-to-DOCX Parsing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Vector Redaction &amp; Cryptographic Watermarking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PDF Page Numbering &amp; Multi-Page Rotation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328416" cy="384048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6366F1"/>
                </a:solidFill>
                <a:latin typeface="Arial"/>
              </a:defRPr>
            </a:pPr>
            <a:r>
              <a:t>AI &amp; Smart Utilities (7 Tools)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Neural Optical Character Recognition (OCR via Tesseract)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AI Document Bullet-Point Summarizer &amp; Key Insights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Multi-Lingual Document Translation Engine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PDF to Markdown Technical Documentation Converter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Dynamic SVG/PNG QR Code Generator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✓ Developer Placeholder &amp; Mock Asset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69280"/>
            <a:ext cx="10698480" cy="54864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8FAFC"/>
                </a:solidFill>
              </a:defRPr>
            </a:pPr>
            <a:r>
              <a:t>MODULAR ARCHITECTURE: Every tool operates through a unified runner component with batch drag-and-drop queues.</a:t>
            </a:r>
          </a:p>
        </p:txBody>
      </p:sp>
    </p:spTree>
  </p:cSld>
  <p:clrMapOvr>
    <a:masterClrMapping/>
  </p:clrMapOvr>
  <p:transition spd="med">
    <p:push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19261C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3E635"/>
                </a:solidFill>
                <a:latin typeface="Arial"/>
              </a:defRPr>
            </a:pPr>
            <a:r>
              <a:t>MARKET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Head-to-Head: PixelForge vs. Industry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A3E635"/>
                </a:solidFill>
                <a:latin typeface="Arial"/>
              </a:defRPr>
            </a:pPr>
            <a:r>
              <a:t>07 / 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  <a:gridCol w="1920240"/>
                <a:gridCol w="1920240"/>
                <a:gridCol w="1920240"/>
              </a:tblGrid>
              <a:tr h="53557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Feature / Metric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PixelForge (Our Project)</a:t>
                      </a:r>
                    </a:p>
                  </a:txBody>
                  <a:tcPr>
                    <a:solidFill>
                      <a:srgbClr val="1E30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iLovePDF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SmallPDF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TinyPNG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Total Active Tools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114+ (Images + PDF + AI)</a:t>
                      </a:r>
                    </a:p>
                  </a:txBody>
                  <a:tcPr>
                    <a:solidFill>
                      <a:srgbClr val="10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~25 (PDF Only)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~21 (PDF Only)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1 (Image Compress)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Subscription Cost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100% Free Forever</a:t>
                      </a:r>
                    </a:p>
                  </a:txBody>
                  <a:tcPr>
                    <a:solidFill>
                      <a:srgbClr val="10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$7 / Month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43F5E"/>
                          </a:solidFill>
                          <a:latin typeface="Arial"/>
                        </a:defRPr>
                      </a:pPr>
                      <a:r>
                        <a:t>$12 / Month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$39 / Year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Daily Usage Limits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Unlimited Usage</a:t>
                      </a:r>
                    </a:p>
                  </a:txBody>
                  <a:tcPr>
                    <a:solidFill>
                      <a:srgbClr val="10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Throttled Batches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43F5E"/>
                          </a:solidFill>
                          <a:latin typeface="Arial"/>
                        </a:defRPr>
                      </a:pPr>
                      <a:r>
                        <a:t>2 Tasks / Day Limit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Max 20 Files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Lifecycle Policy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60-Min Auto-Purge</a:t>
                      </a:r>
                    </a:p>
                  </a:txBody>
                  <a:tcPr>
                    <a:solidFill>
                      <a:srgbClr val="10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2-Hour Cloud Store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14-Day Cloud Store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Variable Cloud Store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Advertisements &amp; Popups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Zero Ads / Clean UX</a:t>
                      </a:r>
                    </a:p>
                  </a:txBody>
                  <a:tcPr>
                    <a:solidFill>
                      <a:srgbClr val="10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Heavy Banner Ads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43F5E"/>
                          </a:solidFill>
                          <a:latin typeface="Arial"/>
                        </a:defRPr>
                      </a:pPr>
                      <a:r>
                        <a:t>Aggressive Paywalls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Sponsor Ads</a:t>
                      </a:r>
                    </a:p>
                  </a:txBody>
                  <a:tcPr>
                    <a:solidFill>
                      <a:srgbClr val="0F131E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Modern 3D Motion UI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3E635"/>
                          </a:solidFill>
                          <a:latin typeface="Arial"/>
                        </a:defRPr>
                      </a:pPr>
                      <a:r>
                        <a:t>Three.js + Framer 3D</a:t>
                      </a:r>
                    </a:p>
                  </a:txBody>
                  <a:tcPr>
                    <a:solidFill>
                      <a:srgbClr val="10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Static 2D Interface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Static 2D Interface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Static 2D Interface</a:t>
                      </a:r>
                    </a:p>
                  </a:txBody>
                  <a:tcPr>
                    <a:solidFill>
                      <a:srgbClr val="14182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5669280"/>
            <a:ext cx="10698480" cy="548640"/>
          </a:xfrm>
          <a:prstGeom prst="roundRect">
            <a:avLst/>
          </a:prstGeom>
          <a:solidFill>
            <a:srgbClr val="231C0F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59E0B"/>
                </a:solidFill>
              </a:defRPr>
            </a:pPr>
            <a:r>
              <a:t>KEY TAKEAWAY: PixelForge matches or exceeds commercial platforms while eliminating recurring subscription paywalls entirely.</a:t>
            </a:r>
          </a:p>
        </p:txBody>
      </p:sp>
    </p:spTree>
  </p:cSld>
  <p:clrMapOvr>
    <a:masterClrMapping/>
  </p:clrMapOvr>
  <p:transition spd="med">
    <p:push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19261C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3E635"/>
                </a:solidFill>
                <a:latin typeface="Arial"/>
              </a:defRPr>
            </a:pPr>
            <a:r>
              <a:t>EMPIRICAL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Rigorous SQA Audit &amp; Verification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A3E635"/>
                </a:solidFill>
                <a:latin typeface="Arial"/>
              </a:defRPr>
            </a:pPr>
            <a:r>
              <a:t>08 /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128016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A3E635"/>
                </a:solidFill>
              </a:defRPr>
            </a:pPr>
            <a:r>
              <a:t>88 / 88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Active Tools Passing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100% E2E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128016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t>35 / 35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Jest Unit Tests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5 Server Test Suites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128016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A855F7"/>
                </a:solidFill>
              </a:defRPr>
            </a:pPr>
            <a:r>
              <a:t>1.60s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Production Build Time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2,631 Modules Clean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645920"/>
            <a:ext cx="2468880" cy="128016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A3E635"/>
                </a:solidFill>
              </a:defRPr>
            </a:pPr>
            <a:r>
              <a:t>17.5 : 1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</a:defRPr>
            </a:pPr>
            <a:r>
              <a:t>WCAG Color Contrast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Exceeds AA 4.5:1 Standard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10698480" cy="54864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F8FAFC"/>
                </a:solidFill>
                <a:latin typeface="Arial"/>
              </a:defRPr>
            </a:pPr>
            <a:r>
              <a:t>1. PDF FormData Upload Normalization:  Resolved upload.fields() normalization for single-file and multi-file PDF payloads across 16 tools.   [VERIFIED FIXED ✓]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13048"/>
            <a:ext cx="10698480" cy="54864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F8FAFC"/>
                </a:solidFill>
                <a:latin typeface="Arial"/>
              </a:defRPr>
            </a:pPr>
            <a:r>
              <a:t>2. AI Image Endpoint Route Isolation:  Corrected tool routing so remove-bg, change-bg, and image-to-text hit image endpoints instead of document AI.   [VERIFIED FIXED ✓]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71416"/>
            <a:ext cx="10698480" cy="54864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F8FAFC"/>
                </a:solidFill>
                <a:latin typeface="Arial"/>
              </a:defRPr>
            </a:pPr>
            <a:r>
              <a:t>3. Strict CORS Whitelist &amp; Protocol Security:  Patched hostname suffix match bypass so malicious domains like evilpixelforge.io are strictly rejected.   [VERIFIED FIXED ✓]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129784"/>
            <a:ext cx="10698480" cy="548640"/>
          </a:xfrm>
          <a:prstGeom prst="roundRect">
            <a:avLst/>
          </a:prstGeom>
          <a:solidFill>
            <a:srgbClr val="141826"/>
          </a:solidFill>
          <a:ln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>
                <a:solidFill>
                  <a:srgbClr val="F8FAFC"/>
                </a:solidFill>
                <a:latin typeface="Arial"/>
              </a:defRPr>
            </a:pPr>
            <a:r>
              <a:t>4. Multi-Worker Shared Storage Concurrency:  Implemented atomic .registry.json fallback synchronization across clustered backend instances.   [VERIFIED FIXED ✓]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669280"/>
            <a:ext cx="10698480" cy="548640"/>
          </a:xfrm>
          <a:prstGeom prst="roundRect">
            <a:avLst/>
          </a:prstGeom>
          <a:solidFill>
            <a:srgbClr val="102316"/>
          </a:solidFill>
          <a:ln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A3E635"/>
                </a:solidFill>
              </a:defRPr>
            </a:pPr>
            <a:r>
              <a:t>SQA AUDIT CONCLUSION: Zero open critical defects  •  100% automated test pass rate  •  Production release ready.</a:t>
            </a:r>
          </a:p>
        </p:txBody>
      </p:sp>
    </p:spTree>
  </p:cSld>
  <p:clrMapOvr>
    <a:masterClrMapping/>
  </p:clrMapOvr>
  <p:transition spd="med">
    <p:push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011680" cy="320040"/>
          </a:xfrm>
          <a:prstGeom prst="roundRect">
            <a:avLst/>
          </a:prstGeom>
          <a:solidFill>
            <a:srgbClr val="19261C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A3E635"/>
                </a:solidFill>
                <a:latin typeface="Arial"/>
              </a:defRPr>
            </a:pPr>
            <a:r>
              <a:t>CAPSTONE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Project Conclusion, Impact &amp;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A3E635"/>
                </a:solidFill>
                <a:latin typeface="Arial"/>
              </a:defRPr>
            </a:pPr>
            <a:r>
              <a:t>09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  <a:latin typeface="Arial"/>
              </a:defRPr>
            </a:pPr>
            <a:r>
              <a:t>PixelForge demonstrates that an open MERN architecture, paired with native compiled C++ bindings and zero-trust ephemeral storage, can outperform commercial monoliths in speed, privacy, and user experience.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3328416" cy="210312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A3E635"/>
                </a:solidFill>
                <a:latin typeface="Arial"/>
              </a:defRPr>
            </a:pPr>
            <a:r>
              <a:t>Academic Significance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Validates high-speed binary streaming in Node.js.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Eliminates CLI shell execution injection vectors.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Demonstrates hybrid in-memory buffer processing.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Proves automated TTL disk lifecycle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6552" y="2651760"/>
            <a:ext cx="3328416" cy="210312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Real-World Impact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Democratizes digital utilities for students &amp; firms.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Protects sensitive user documents from leaks.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Eliminates $150+/year subscription fees.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Delivers a clean, ad-free modern experience.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4" y="2651760"/>
            <a:ext cx="3328416" cy="2103120"/>
          </a:xfrm>
          <a:prstGeom prst="roundRect">
            <a:avLst/>
          </a:prstGeom>
          <a:solidFill>
            <a:srgbClr val="141826"/>
          </a:solidFill>
          <a:ln w="12700">
            <a:solidFill>
              <a:srgbClr val="2D3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A855F7"/>
                </a:solidFill>
                <a:latin typeface="Arial"/>
              </a:defRPr>
            </a:pPr>
            <a:r>
              <a:t>Future Roadmap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Client-side WebAssembly (Wasm) edge execution.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100% offline document processing in browser.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Local neural generative AI super-resolution.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Arial"/>
              </a:defRPr>
            </a:pPr>
            <a:r>
              <a:t>• Mobile progressive web app (PWA) release.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37760"/>
            <a:ext cx="10698480" cy="1188720"/>
          </a:xfrm>
          <a:prstGeom prst="roundRect">
            <a:avLst/>
          </a:prstGeom>
          <a:solidFill>
            <a:srgbClr val="121C3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Thank You! Open for Questions &amp; Committee Defense</a:t>
            </a:r>
          </a:p>
          <a:p>
            <a:pPr algn="ctr">
              <a:spcBef>
                <a:spcPts val="600"/>
              </a:spcBef>
              <a:defRPr sz="1100" b="1">
                <a:solidFill>
                  <a:srgbClr val="A3E635"/>
                </a:solidFill>
              </a:defRPr>
            </a:pPr>
            <a:r>
              <a:t>Live Platform: https://pixelforge.io   |   PixelForge v2.0 Production Release   |   Developer: Muhammad Ali Raza</a:t>
            </a:r>
          </a:p>
        </p:txBody>
      </p:sp>
    </p:spTree>
  </p:cSld>
  <p:clrMapOvr>
    <a:masterClrMapping/>
  </p:clrMapOvr>
  <p:transition spd="med">
    <p:push dir="r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