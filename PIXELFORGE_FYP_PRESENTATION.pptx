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Assalam u Alaikum respected panel members. My name is Muhammad Ali Raza and today I am presenting my final year project called PixelForge. It is an all-in-one image and PDF processing platform built on MERN stack.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PixelForge? It is a free online platform where you can do everything related to images and PDFs. Instead of using 5-6 different websites, you just use PixelForge. It has 114 plus tools and everything works in your browser.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we build PixelForge? Because right now if you want to compress an image you go to TinyPNG, to merge PDFs you go to iLovePDF, to remove background you go to Remove.bg. These websites charge monthly fees and they keep your files on their servers which is a privacy risk.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PixelForge has 114 plus tools covering images, PDFs and AI. Everything is completely free with no daily limits. It uses native C++ engines so it's 5 times faster than normal JavaScript tools. And the UI is modern with 3D animations using Three.js.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PixelForge is built using the MERN stack which stands for MongoDB, Express, React and Node.js. On top of that we use Sharp which is a C++ image engine that makes processing 5 times faster. For PDFs we use PDF-Lib, for OCR we use Tesseract.js, and for Word conversion we use Mammoth.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can see all the tool categories. We have 62 Image tools for tasks like compression, format conversion, resizing and background removal. 19 PDF tools for merging, splitting, encryption and Word conversion. And 7 AI-powered tools for OCR, summarization and QR code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table clearly shows why PixelForge is better. We have 114 plus tools compared to 25 on iLovePDF. We are completely free while SmallPDF charges 12 dollars per month. We auto-delete files in 60 minutes while SmallPDF keeps them for 14 days. And we have zero 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complete testing of the project. All 88 active tools were tested with real files and all passed. 35 unit tests all pass. We found 4 bugs during testing and fixed all of them. The project is 100% production ready.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To summarize, PixelForge is an all-in-one free platform with 114 plus tools built on MERN stack. It is faster, cheaper and more private than iLovePDF or SmallPDF. I am now open for any questions you may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ectangle 1"/>
          <p:cNvSpPr/>
          <p:nvPr/>
        </p:nvSpPr>
        <p:spPr>
          <a:xfrm>
            <a:off x="4114800" y="1097280"/>
            <a:ext cx="3931920" cy="54864"/>
          </a:xfrm>
          <a:prstGeom prst="rect">
            <a:avLst/>
          </a:prstGeom>
          <a:solidFill>
            <a:srgbClr val="3B82F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0152" cy="1097280"/>
          </a:xfrm>
          <a:prstGeom prst="rect">
            <a:avLst/>
          </a:prstGeom>
          <a:noFill/>
        </p:spPr>
        <p:txBody>
          <a:bodyPr wrap="square">
            <a:spAutoFit/>
          </a:bodyPr>
          <a:lstStyle/>
          <a:p>
            <a:pPr algn="ctr">
              <a:defRPr sz="5200" b="1">
                <a:solidFill>
                  <a:srgbClr val="FFFFFF"/>
                </a:solidFill>
                <a:latin typeface="Arial"/>
              </a:defRPr>
            </a:pPr>
            <a:r>
              <a:t>PixelForge</a:t>
            </a:r>
          </a:p>
        </p:txBody>
      </p:sp>
      <p:sp>
        <p:nvSpPr>
          <p:cNvPr id="4" name="TextBox 3"/>
          <p:cNvSpPr txBox="1"/>
          <p:nvPr/>
        </p:nvSpPr>
        <p:spPr>
          <a:xfrm>
            <a:off x="1371600" y="2468880"/>
            <a:ext cx="9445752" cy="548640"/>
          </a:xfrm>
          <a:prstGeom prst="rect">
            <a:avLst/>
          </a:prstGeom>
          <a:noFill/>
        </p:spPr>
        <p:txBody>
          <a:bodyPr wrap="square">
            <a:spAutoFit/>
          </a:bodyPr>
          <a:lstStyle/>
          <a:p>
            <a:pPr algn="ctr">
              <a:defRPr sz="2400" b="0">
                <a:solidFill>
                  <a:srgbClr val="3B82F6"/>
                </a:solidFill>
                <a:latin typeface="Arial"/>
              </a:defRPr>
            </a:pPr>
            <a:r>
              <a:t>All-in-One Image &amp; PDF Processing Platform</a:t>
            </a:r>
          </a:p>
        </p:txBody>
      </p:sp>
      <p:sp>
        <p:nvSpPr>
          <p:cNvPr id="5" name="Rectangle 4"/>
          <p:cNvSpPr/>
          <p:nvPr/>
        </p:nvSpPr>
        <p:spPr>
          <a:xfrm>
            <a:off x="4572000" y="3200400"/>
            <a:ext cx="301752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74720"/>
            <a:ext cx="10360152" cy="457200"/>
          </a:xfrm>
          <a:prstGeom prst="rect">
            <a:avLst/>
          </a:prstGeom>
          <a:noFill/>
        </p:spPr>
        <p:txBody>
          <a:bodyPr wrap="square">
            <a:spAutoFit/>
          </a:bodyPr>
          <a:lstStyle/>
          <a:p>
            <a:pPr algn="ctr">
              <a:defRPr sz="1600" b="0">
                <a:solidFill>
                  <a:srgbClr val="CBD5E1"/>
                </a:solidFill>
                <a:latin typeface="Arial"/>
              </a:defRPr>
            </a:pPr>
            <a:r>
              <a:t>Presented By</a:t>
            </a:r>
          </a:p>
        </p:txBody>
      </p:sp>
      <p:sp>
        <p:nvSpPr>
          <p:cNvPr id="7" name="TextBox 6"/>
          <p:cNvSpPr txBox="1"/>
          <p:nvPr/>
        </p:nvSpPr>
        <p:spPr>
          <a:xfrm>
            <a:off x="914400" y="3931920"/>
            <a:ext cx="10360152" cy="548640"/>
          </a:xfrm>
          <a:prstGeom prst="rect">
            <a:avLst/>
          </a:prstGeom>
          <a:noFill/>
        </p:spPr>
        <p:txBody>
          <a:bodyPr wrap="square">
            <a:spAutoFit/>
          </a:bodyPr>
          <a:lstStyle/>
          <a:p>
            <a:pPr algn="ctr">
              <a:defRPr sz="3000" b="1">
                <a:solidFill>
                  <a:srgbClr val="FFFFFF"/>
                </a:solidFill>
                <a:latin typeface="Arial"/>
              </a:defRPr>
            </a:pPr>
            <a:r>
              <a:t>Muhammad Ali Raza</a:t>
            </a:r>
          </a:p>
        </p:txBody>
      </p:sp>
      <p:sp>
        <p:nvSpPr>
          <p:cNvPr id="8" name="TextBox 7"/>
          <p:cNvSpPr txBox="1"/>
          <p:nvPr/>
        </p:nvSpPr>
        <p:spPr>
          <a:xfrm>
            <a:off x="914400" y="4572000"/>
            <a:ext cx="10360152" cy="365760"/>
          </a:xfrm>
          <a:prstGeom prst="rect">
            <a:avLst/>
          </a:prstGeom>
          <a:noFill/>
        </p:spPr>
        <p:txBody>
          <a:bodyPr wrap="square">
            <a:spAutoFit/>
          </a:bodyPr>
          <a:lstStyle/>
          <a:p>
            <a:pPr algn="ctr">
              <a:defRPr sz="1400" b="0">
                <a:solidFill>
                  <a:srgbClr val="CBD5E1"/>
                </a:solidFill>
                <a:latin typeface="Arial"/>
              </a:defRPr>
            </a:pPr>
            <a:r>
              <a:t>BS Computer Science  •  Final Year Project (FYP)</a:t>
            </a:r>
          </a:p>
        </p:txBody>
      </p:sp>
      <p:pic>
        <p:nvPicPr>
          <p:cNvPr id="9" name="Picture 8" descr="browser_mockup.png"/>
          <p:cNvPicPr>
            <a:picLocks noChangeAspect="1"/>
          </p:cNvPicPr>
          <p:nvPr/>
        </p:nvPicPr>
        <p:blipFill>
          <a:blip r:embed="rId2"/>
          <a:stretch>
            <a:fillRect/>
          </a:stretch>
        </p:blipFill>
        <p:spPr>
          <a:xfrm>
            <a:off x="8046720" y="4846320"/>
            <a:ext cx="3840480" cy="2605543"/>
          </a:xfrm>
          <a:prstGeom prst="rect">
            <a:avLst/>
          </a:prstGeom>
          <a:effectLst>
            <a:outerShdw blurRad="190500" dist="63500" dir="5400000" rotWithShape="0">
              <a:srgbClr val="000000">
                <a:alpha val="40000"/>
              </a:srgbClr>
            </a:outerShdw>
          </a:effectLst>
        </p:spPr>
      </p:pic>
      <p:sp>
        <p:nvSpPr>
          <p:cNvPr id="10" name="Rounded Rectangle 9"/>
          <p:cNvSpPr/>
          <p:nvPr/>
        </p:nvSpPr>
        <p:spPr>
          <a:xfrm>
            <a:off x="3200400" y="5303520"/>
            <a:ext cx="2286000" cy="347472"/>
          </a:xfrm>
          <a:prstGeom prst="roundRect">
            <a:avLst/>
          </a:prstGeom>
          <a:solidFill>
            <a:srgbClr val="3B82F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MERN Stack Project</a:t>
            </a:r>
          </a:p>
        </p:txBody>
      </p:sp>
      <p:sp>
        <p:nvSpPr>
          <p:cNvPr id="11" name="Rounded Rectangle 10"/>
          <p:cNvSpPr/>
          <p:nvPr/>
        </p:nvSpPr>
        <p:spPr>
          <a:xfrm>
            <a:off x="5760720" y="5303520"/>
            <a:ext cx="2286000" cy="347472"/>
          </a:xfrm>
          <a:prstGeom prst="roundRect">
            <a:avLst/>
          </a:prstGeom>
          <a:solidFill>
            <a:srgbClr val="8B5CF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114+ Online Tools</a:t>
            </a:r>
          </a:p>
        </p:txBody>
      </p:sp>
    </p:spTree>
  </p:cSld>
  <p:clrMapOvr>
    <a:masterClrMapping/>
  </p:clrMapOvr>
  <p:transition spd="med" advTm="0">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3B82F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INTRODUCTION</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What is PixelForge?</a:t>
            </a:r>
          </a:p>
        </p:txBody>
      </p:sp>
      <p:sp>
        <p:nvSpPr>
          <p:cNvPr id="4" name="Rounded Rectangle 3"/>
          <p:cNvSpPr/>
          <p:nvPr/>
        </p:nvSpPr>
        <p:spPr>
          <a:xfrm>
            <a:off x="731520" y="1645920"/>
            <a:ext cx="5029200" cy="438912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3B82F6"/>
                </a:solidFill>
                <a:latin typeface="Arial"/>
              </a:defRPr>
            </a:pPr>
            <a:r>
              <a:t>A Free Online Platform</a:t>
            </a:r>
          </a:p>
          <a:p>
            <a:pPr>
              <a:spcBef>
                <a:spcPts val="500"/>
              </a:spcBef>
              <a:defRPr sz="1200">
                <a:solidFill>
                  <a:srgbClr val="FFFFFF"/>
                </a:solidFill>
                <a:latin typeface="Arial"/>
              </a:defRPr>
            </a:pPr>
            <a:r>
              <a:t>• One website for ALL your image &amp; PDF needs</a:t>
            </a:r>
          </a:p>
          <a:p>
            <a:pPr>
              <a:spcBef>
                <a:spcPts val="500"/>
              </a:spcBef>
              <a:defRPr sz="1200">
                <a:solidFill>
                  <a:srgbClr val="FFFFFF"/>
                </a:solidFill>
                <a:latin typeface="Arial"/>
              </a:defRPr>
            </a:pPr>
            <a:r>
              <a:t>• 114+ tools — no downloads, no signups</a:t>
            </a:r>
          </a:p>
          <a:p>
            <a:pPr>
              <a:spcBef>
                <a:spcPts val="500"/>
              </a:spcBef>
              <a:defRPr sz="1200">
                <a:solidFill>
                  <a:srgbClr val="FFFFFF"/>
                </a:solidFill>
                <a:latin typeface="Arial"/>
              </a:defRPr>
            </a:pPr>
            <a:r>
              <a:t>• Works right in your browser</a:t>
            </a:r>
          </a:p>
          <a:p>
            <a:pPr>
              <a:spcBef>
                <a:spcPts val="500"/>
              </a:spcBef>
              <a:defRPr sz="1200">
                <a:solidFill>
                  <a:srgbClr val="FFFFFF"/>
                </a:solidFill>
                <a:latin typeface="Arial"/>
              </a:defRPr>
            </a:pPr>
            <a:r>
              <a:t>• Completely free — no hidden charges</a:t>
            </a:r>
          </a:p>
          <a:p>
            <a:pPr>
              <a:spcBef>
                <a:spcPts val="500"/>
              </a:spcBef>
              <a:defRPr sz="1200">
                <a:solidFill>
                  <a:srgbClr val="FFFFFF"/>
                </a:solidFill>
                <a:latin typeface="Arial"/>
              </a:defRPr>
            </a:pPr>
            <a:r>
              <a:t>• Your files are auto-deleted after 60 minutes</a:t>
            </a:r>
          </a:p>
          <a:p>
            <a:pPr>
              <a:spcBef>
                <a:spcPts val="500"/>
              </a:spcBef>
              <a:defRPr sz="1200">
                <a:solidFill>
                  <a:srgbClr val="FFFFFF"/>
                </a:solidFill>
                <a:latin typeface="Arial"/>
              </a:defRPr>
            </a:pPr>
            <a:r>
              <a:t>• No annoying ads or popups</a:t>
            </a:r>
          </a:p>
          <a:p>
            <a:pPr>
              <a:spcBef>
                <a:spcPts val="500"/>
              </a:spcBef>
              <a:defRPr sz="1200">
                <a:solidFill>
                  <a:srgbClr val="FFFFFF"/>
                </a:solidFill>
                <a:latin typeface="Arial"/>
              </a:defRPr>
            </a:pPr>
          </a:p>
          <a:p>
            <a:pPr>
              <a:spcBef>
                <a:spcPts val="500"/>
              </a:spcBef>
              <a:defRPr sz="1200">
                <a:solidFill>
                  <a:srgbClr val="FFFFFF"/>
                </a:solidFill>
                <a:latin typeface="Arial"/>
              </a:defRPr>
            </a:pPr>
            <a:r>
              <a:t>Think of it like iLovePDF + TinyPNG + Remove.bg</a:t>
            </a:r>
          </a:p>
          <a:p>
            <a:pPr>
              <a:spcBef>
                <a:spcPts val="500"/>
              </a:spcBef>
              <a:defRPr sz="1200">
                <a:solidFill>
                  <a:srgbClr val="FFFFFF"/>
                </a:solidFill>
                <a:latin typeface="Arial"/>
              </a:defRPr>
            </a:pPr>
            <a:r>
              <a:t>all combined into one single website!</a:t>
            </a:r>
          </a:p>
        </p:txBody>
      </p:sp>
      <p:pic>
        <p:nvPicPr>
          <p:cNvPr id="5" name="Picture 4" descr="browser_mockup.png"/>
          <p:cNvPicPr>
            <a:picLocks noChangeAspect="1"/>
          </p:cNvPicPr>
          <p:nvPr/>
        </p:nvPicPr>
        <p:blipFill>
          <a:blip r:embed="rId2"/>
          <a:stretch>
            <a:fillRect/>
          </a:stretch>
        </p:blipFill>
        <p:spPr>
          <a:xfrm>
            <a:off x="6217920" y="1645920"/>
            <a:ext cx="5212080" cy="3536094"/>
          </a:xfrm>
          <a:prstGeom prst="rect">
            <a:avLst/>
          </a:prstGeom>
          <a:effectLst>
            <a:outerShdw blurRad="190500" dist="63500" dir="5400000" rotWithShape="0">
              <a:srgbClr val="000000">
                <a:alpha val="40000"/>
              </a:srgbClr>
            </a:outerShdw>
          </a:effectLst>
          <a:sp3d extrusionH="12700">
            <a:bevelT w="63500" h="25400" prst="relaxedInset"/>
            <a:contourClr>
              <a:srgbClr val="3B82F6"/>
            </a:contourClr>
          </a:sp3d>
        </p:spPr>
      </p:pic>
      <p:sp>
        <p:nvSpPr>
          <p:cNvPr id="6" name="Rounded Rectangle 5"/>
          <p:cNvSpPr/>
          <p:nvPr/>
        </p:nvSpPr>
        <p:spPr>
          <a:xfrm>
            <a:off x="731520" y="6035040"/>
            <a:ext cx="10698480" cy="457200"/>
          </a:xfrm>
          <a:prstGeom prst="roundRect">
            <a:avLst/>
          </a:prstGeom>
          <a:solidFill>
            <a:srgbClr val="141E32"/>
          </a:solidFill>
          <a:ln w="12700">
            <a:solidFill>
              <a:srgbClr val="3B82F6"/>
            </a:solid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Arial"/>
              </a:defRPr>
            </a:pPr>
            <a:r>
              <a:t>PixelForge — One Platform, All Your Tools, 100% Free</a:t>
            </a:r>
          </a:p>
        </p:txBody>
      </p:sp>
    </p:spTree>
  </p:cSld>
  <p:clrMapOvr>
    <a:masterClrMapping/>
  </p:clrMapOvr>
  <p:transition spd="med" advTm="0">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EF4444"/>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THE PROBLEM</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Why We Built PixelForge</a:t>
            </a:r>
          </a:p>
        </p:txBody>
      </p:sp>
      <p:sp>
        <p:nvSpPr>
          <p:cNvPr id="4" name="Rounded Rectangle 3"/>
          <p:cNvSpPr/>
          <p:nvPr/>
        </p:nvSpPr>
        <p:spPr>
          <a:xfrm>
            <a:off x="731520" y="1645920"/>
            <a:ext cx="3520440" cy="329184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EF4444"/>
                </a:solidFill>
                <a:latin typeface="Arial"/>
              </a:defRPr>
            </a:pPr>
            <a:r>
              <a:t>Too Many Websites</a:t>
            </a:r>
          </a:p>
          <a:p>
            <a:pPr>
              <a:spcBef>
                <a:spcPts val="500"/>
              </a:spcBef>
              <a:defRPr sz="1200">
                <a:solidFill>
                  <a:srgbClr val="FFFFFF"/>
                </a:solidFill>
                <a:latin typeface="Arial"/>
              </a:defRPr>
            </a:pPr>
            <a:r>
              <a:t>• Need iLovePDF for merging PDFs</a:t>
            </a:r>
          </a:p>
          <a:p>
            <a:pPr>
              <a:spcBef>
                <a:spcPts val="500"/>
              </a:spcBef>
              <a:defRPr sz="1200">
                <a:solidFill>
                  <a:srgbClr val="FFFFFF"/>
                </a:solidFill>
                <a:latin typeface="Arial"/>
              </a:defRPr>
            </a:pPr>
            <a:r>
              <a:t>• Need TinyPNG for compressing images</a:t>
            </a:r>
          </a:p>
          <a:p>
            <a:pPr>
              <a:spcBef>
                <a:spcPts val="500"/>
              </a:spcBef>
              <a:defRPr sz="1200">
                <a:solidFill>
                  <a:srgbClr val="FFFFFF"/>
                </a:solidFill>
                <a:latin typeface="Arial"/>
              </a:defRPr>
            </a:pPr>
            <a:r>
              <a:t>• Need Remove.bg for background removal</a:t>
            </a:r>
          </a:p>
          <a:p>
            <a:pPr>
              <a:spcBef>
                <a:spcPts val="500"/>
              </a:spcBef>
              <a:defRPr sz="1200">
                <a:solidFill>
                  <a:srgbClr val="FFFFFF"/>
                </a:solidFill>
                <a:latin typeface="Arial"/>
              </a:defRPr>
            </a:pPr>
            <a:r>
              <a:t>• Users waste time switching between sites</a:t>
            </a:r>
          </a:p>
        </p:txBody>
      </p:sp>
      <p:sp>
        <p:nvSpPr>
          <p:cNvPr id="5" name="Rounded Rectangle 4"/>
          <p:cNvSpPr/>
          <p:nvPr/>
        </p:nvSpPr>
        <p:spPr>
          <a:xfrm>
            <a:off x="4526280" y="1645920"/>
            <a:ext cx="3520440" cy="329184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F97316"/>
                </a:solidFill>
                <a:latin typeface="Arial"/>
              </a:defRPr>
            </a:pPr>
            <a:r>
              <a:t>Expensive Subscriptions</a:t>
            </a:r>
          </a:p>
          <a:p>
            <a:pPr>
              <a:spcBef>
                <a:spcPts val="500"/>
              </a:spcBef>
              <a:defRPr sz="1200">
                <a:solidFill>
                  <a:srgbClr val="FFFFFF"/>
                </a:solidFill>
                <a:latin typeface="Arial"/>
              </a:defRPr>
            </a:pPr>
            <a:r>
              <a:t>• SmallPDF charges $12/month</a:t>
            </a:r>
          </a:p>
          <a:p>
            <a:pPr>
              <a:spcBef>
                <a:spcPts val="500"/>
              </a:spcBef>
              <a:defRPr sz="1200">
                <a:solidFill>
                  <a:srgbClr val="FFFFFF"/>
                </a:solidFill>
                <a:latin typeface="Arial"/>
              </a:defRPr>
            </a:pPr>
            <a:r>
              <a:t>• iLovePDF charges $7/month</a:t>
            </a:r>
          </a:p>
          <a:p>
            <a:pPr>
              <a:spcBef>
                <a:spcPts val="500"/>
              </a:spcBef>
              <a:defRPr sz="1200">
                <a:solidFill>
                  <a:srgbClr val="FFFFFF"/>
                </a:solidFill>
                <a:latin typeface="Arial"/>
              </a:defRPr>
            </a:pPr>
            <a:r>
              <a:t>• TinyPNG costs $39/year</a:t>
            </a:r>
          </a:p>
          <a:p>
            <a:pPr>
              <a:spcBef>
                <a:spcPts val="500"/>
              </a:spcBef>
              <a:defRPr sz="1200">
                <a:solidFill>
                  <a:srgbClr val="FFFFFF"/>
                </a:solidFill>
                <a:latin typeface="Arial"/>
              </a:defRPr>
            </a:pPr>
            <a:r>
              <a:t>• Students and freelancers can't afford this</a:t>
            </a:r>
          </a:p>
        </p:txBody>
      </p:sp>
      <p:sp>
        <p:nvSpPr>
          <p:cNvPr id="6" name="Rounded Rectangle 5"/>
          <p:cNvSpPr/>
          <p:nvPr/>
        </p:nvSpPr>
        <p:spPr>
          <a:xfrm>
            <a:off x="8321040" y="1645920"/>
            <a:ext cx="3520440" cy="329184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8B5CF6"/>
                </a:solidFill>
                <a:latin typeface="Arial"/>
              </a:defRPr>
            </a:pPr>
            <a:r>
              <a:t>Privacy Concerns</a:t>
            </a:r>
          </a:p>
          <a:p>
            <a:pPr>
              <a:spcBef>
                <a:spcPts val="500"/>
              </a:spcBef>
              <a:defRPr sz="1200">
                <a:solidFill>
                  <a:srgbClr val="FFFFFF"/>
                </a:solidFill>
                <a:latin typeface="Arial"/>
              </a:defRPr>
            </a:pPr>
            <a:r>
              <a:t>• Your files sit on their servers for days</a:t>
            </a:r>
          </a:p>
          <a:p>
            <a:pPr>
              <a:spcBef>
                <a:spcPts val="500"/>
              </a:spcBef>
              <a:defRPr sz="1200">
                <a:solidFill>
                  <a:srgbClr val="FFFFFF"/>
                </a:solidFill>
                <a:latin typeface="Arial"/>
              </a:defRPr>
            </a:pPr>
            <a:r>
              <a:t>• No guarantee your data is deleted</a:t>
            </a:r>
          </a:p>
          <a:p>
            <a:pPr>
              <a:spcBef>
                <a:spcPts val="500"/>
              </a:spcBef>
              <a:defRPr sz="1200">
                <a:solidFill>
                  <a:srgbClr val="FFFFFF"/>
                </a:solidFill>
                <a:latin typeface="Arial"/>
              </a:defRPr>
            </a:pPr>
            <a:r>
              <a:t>• Sensitive documents at risk</a:t>
            </a:r>
          </a:p>
          <a:p>
            <a:pPr>
              <a:spcBef>
                <a:spcPts val="500"/>
              </a:spcBef>
              <a:defRPr sz="1200">
                <a:solidFill>
                  <a:srgbClr val="FFFFFF"/>
                </a:solidFill>
                <a:latin typeface="Arial"/>
              </a:defRPr>
            </a:pPr>
            <a:r>
              <a:t>• Heavy tracking and ads everywhere</a:t>
            </a:r>
          </a:p>
        </p:txBody>
      </p:sp>
      <p:sp>
        <p:nvSpPr>
          <p:cNvPr id="7" name="Rounded Rectangle 6"/>
          <p:cNvSpPr/>
          <p:nvPr/>
        </p:nvSpPr>
        <p:spPr>
          <a:xfrm>
            <a:off x="731520" y="5120640"/>
            <a:ext cx="10698480" cy="100584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EF4444"/>
                </a:solidFill>
                <a:latin typeface="Arial"/>
              </a:defRPr>
            </a:pPr>
            <a:r>
              <a:t>The Core Problem:</a:t>
            </a:r>
          </a:p>
          <a:p>
            <a:pPr>
              <a:spcBef>
                <a:spcPts val="500"/>
              </a:spcBef>
              <a:defRPr sz="1200">
                <a:solidFill>
                  <a:srgbClr val="FFFFFF"/>
                </a:solidFill>
                <a:latin typeface="Arial"/>
              </a:defRPr>
            </a:pPr>
            <a:r>
              <a:t>Students and professionals are forced to use 5-6 expensive, ad-heavy websites that don't protect their data.</a:t>
            </a:r>
          </a:p>
        </p:txBody>
      </p:sp>
    </p:spTree>
  </p:cSld>
  <p:clrMapOvr>
    <a:masterClrMapping/>
  </p:clrMapOvr>
  <p:transition spd="med" advTm="0">
    <p:cover dir="l"/>
  </p:transition>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22C55E"/>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KEY FEATURES</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What Makes PixelForge Special?</a:t>
            </a:r>
          </a:p>
        </p:txBody>
      </p:sp>
      <p:sp>
        <p:nvSpPr>
          <p:cNvPr id="4" name="Rounded Rectangle 3"/>
          <p:cNvSpPr/>
          <p:nvPr/>
        </p:nvSpPr>
        <p:spPr>
          <a:xfrm>
            <a:off x="731520" y="1645920"/>
            <a:ext cx="5349240" cy="182880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3B82F6"/>
                </a:solidFill>
                <a:latin typeface="Arial"/>
              </a:defRPr>
            </a:pPr>
            <a:r>
              <a:t>114+ Tools in One Place</a:t>
            </a:r>
          </a:p>
          <a:p>
            <a:pPr>
              <a:spcBef>
                <a:spcPts val="500"/>
              </a:spcBef>
              <a:defRPr sz="1200">
                <a:solidFill>
                  <a:srgbClr val="FFFFFF"/>
                </a:solidFill>
                <a:latin typeface="Arial"/>
              </a:defRPr>
            </a:pPr>
            <a:r>
              <a:t>• Image tools: compress, convert, resize, crop</a:t>
            </a:r>
          </a:p>
          <a:p>
            <a:pPr>
              <a:spcBef>
                <a:spcPts val="500"/>
              </a:spcBef>
              <a:defRPr sz="1200">
                <a:solidFill>
                  <a:srgbClr val="FFFFFF"/>
                </a:solidFill>
                <a:latin typeface="Arial"/>
              </a:defRPr>
            </a:pPr>
            <a:r>
              <a:t>• PDF tools: merge, split, encrypt, convert</a:t>
            </a:r>
          </a:p>
          <a:p>
            <a:pPr>
              <a:spcBef>
                <a:spcPts val="500"/>
              </a:spcBef>
              <a:defRPr sz="1200">
                <a:solidFill>
                  <a:srgbClr val="FFFFFF"/>
                </a:solidFill>
                <a:latin typeface="Arial"/>
              </a:defRPr>
            </a:pPr>
            <a:r>
              <a:t>• AI tools: OCR, background removal, QR codes</a:t>
            </a:r>
          </a:p>
        </p:txBody>
      </p:sp>
      <p:sp>
        <p:nvSpPr>
          <p:cNvPr id="5" name="Rounded Rectangle 4"/>
          <p:cNvSpPr/>
          <p:nvPr/>
        </p:nvSpPr>
        <p:spPr>
          <a:xfrm>
            <a:off x="6355080" y="1645920"/>
            <a:ext cx="5349240" cy="182880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22C55E"/>
                </a:solidFill>
                <a:latin typeface="Arial"/>
              </a:defRPr>
            </a:pPr>
            <a:r>
              <a:t>100% Free — No Paywalls</a:t>
            </a:r>
          </a:p>
          <a:p>
            <a:pPr>
              <a:spcBef>
                <a:spcPts val="500"/>
              </a:spcBef>
              <a:defRPr sz="1200">
                <a:solidFill>
                  <a:srgbClr val="FFFFFF"/>
                </a:solidFill>
                <a:latin typeface="Arial"/>
              </a:defRPr>
            </a:pPr>
            <a:r>
              <a:t>• No subscriptions, no hidden charges</a:t>
            </a:r>
          </a:p>
          <a:p>
            <a:pPr>
              <a:spcBef>
                <a:spcPts val="500"/>
              </a:spcBef>
              <a:defRPr sz="1200">
                <a:solidFill>
                  <a:srgbClr val="FFFFFF"/>
                </a:solidFill>
                <a:latin typeface="Arial"/>
              </a:defRPr>
            </a:pPr>
            <a:r>
              <a:t>• No daily limits or file size caps</a:t>
            </a:r>
          </a:p>
          <a:p>
            <a:pPr>
              <a:spcBef>
                <a:spcPts val="500"/>
              </a:spcBef>
              <a:defRPr sz="1200">
                <a:solidFill>
                  <a:srgbClr val="FFFFFF"/>
                </a:solidFill>
                <a:latin typeface="Arial"/>
              </a:defRPr>
            </a:pPr>
            <a:r>
              <a:t>• All tools available to everyone</a:t>
            </a:r>
          </a:p>
        </p:txBody>
      </p:sp>
      <p:sp>
        <p:nvSpPr>
          <p:cNvPr id="6" name="Rounded Rectangle 5"/>
          <p:cNvSpPr/>
          <p:nvPr/>
        </p:nvSpPr>
        <p:spPr>
          <a:xfrm>
            <a:off x="731520" y="3749040"/>
            <a:ext cx="5349240" cy="182880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8B5CF6"/>
                </a:solidFill>
                <a:latin typeface="Arial"/>
              </a:defRPr>
            </a:pPr>
            <a:r>
              <a:t>Fast &amp; Secure Processing</a:t>
            </a:r>
          </a:p>
          <a:p>
            <a:pPr>
              <a:spcBef>
                <a:spcPts val="500"/>
              </a:spcBef>
              <a:defRPr sz="1200">
                <a:solidFill>
                  <a:srgbClr val="FFFFFF"/>
                </a:solidFill>
                <a:latin typeface="Arial"/>
              </a:defRPr>
            </a:pPr>
            <a:r>
              <a:t>• Uses native C++ engines for speed</a:t>
            </a:r>
          </a:p>
          <a:p>
            <a:pPr>
              <a:spcBef>
                <a:spcPts val="500"/>
              </a:spcBef>
              <a:defRPr sz="1200">
                <a:solidFill>
                  <a:srgbClr val="FFFFFF"/>
                </a:solidFill>
                <a:latin typeface="Arial"/>
              </a:defRPr>
            </a:pPr>
            <a:r>
              <a:t>• 5x faster than JavaScript-based tools</a:t>
            </a:r>
          </a:p>
          <a:p>
            <a:pPr>
              <a:spcBef>
                <a:spcPts val="500"/>
              </a:spcBef>
              <a:defRPr sz="1200">
                <a:solidFill>
                  <a:srgbClr val="FFFFFF"/>
                </a:solidFill>
                <a:latin typeface="Arial"/>
              </a:defRPr>
            </a:pPr>
            <a:r>
              <a:t>• Files auto-deleted after 60 minutes</a:t>
            </a:r>
          </a:p>
        </p:txBody>
      </p:sp>
      <p:sp>
        <p:nvSpPr>
          <p:cNvPr id="7" name="Rounded Rectangle 6"/>
          <p:cNvSpPr/>
          <p:nvPr/>
        </p:nvSpPr>
        <p:spPr>
          <a:xfrm>
            <a:off x="6355080" y="3749040"/>
            <a:ext cx="5349240" cy="182880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F97316"/>
                </a:solidFill>
                <a:latin typeface="Arial"/>
              </a:defRPr>
            </a:pPr>
            <a:r>
              <a:t>Modern 3D Animated UI</a:t>
            </a:r>
          </a:p>
          <a:p>
            <a:pPr>
              <a:spcBef>
                <a:spcPts val="500"/>
              </a:spcBef>
              <a:defRPr sz="1200">
                <a:solidFill>
                  <a:srgbClr val="FFFFFF"/>
                </a:solidFill>
                <a:latin typeface="Arial"/>
              </a:defRPr>
            </a:pPr>
            <a:r>
              <a:t>• Beautiful dark theme with animations</a:t>
            </a:r>
          </a:p>
          <a:p>
            <a:pPr>
              <a:spcBef>
                <a:spcPts val="500"/>
              </a:spcBef>
              <a:defRPr sz="1200">
                <a:solidFill>
                  <a:srgbClr val="FFFFFF"/>
                </a:solidFill>
                <a:latin typeface="Arial"/>
              </a:defRPr>
            </a:pPr>
            <a:r>
              <a:t>• Three.js 3D particle backgrounds</a:t>
            </a:r>
          </a:p>
          <a:p>
            <a:pPr>
              <a:spcBef>
                <a:spcPts val="500"/>
              </a:spcBef>
              <a:defRPr sz="1200">
                <a:solidFill>
                  <a:srgbClr val="FFFFFF"/>
                </a:solidFill>
                <a:latin typeface="Arial"/>
              </a:defRPr>
            </a:pPr>
            <a:r>
              <a:t>• Smooth drag-and-drop file uploads</a:t>
            </a:r>
          </a:p>
        </p:txBody>
      </p:sp>
      <p:sp>
        <p:nvSpPr>
          <p:cNvPr id="8" name="Rounded Rectangle 7"/>
          <p:cNvSpPr/>
          <p:nvPr/>
        </p:nvSpPr>
        <p:spPr>
          <a:xfrm>
            <a:off x="731520" y="6035040"/>
            <a:ext cx="10698480" cy="457200"/>
          </a:xfrm>
          <a:prstGeom prst="roundRect">
            <a:avLst/>
          </a:prstGeom>
          <a:solidFill>
            <a:srgbClr val="141E32"/>
          </a:solidFill>
          <a:ln w="12700">
            <a:solidFill>
              <a:srgbClr val="3B82F6"/>
            </a:solid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Arial"/>
              </a:defRPr>
            </a:pPr>
            <a:r>
              <a:t>All features work directly in your browser — no downloads or installations needed!</a:t>
            </a:r>
          </a:p>
        </p:txBody>
      </p:sp>
    </p:spTree>
  </p:cSld>
  <p:clrMapOvr>
    <a:masterClrMapping/>
  </p:clrMapOvr>
  <p:transition spd="med" advTm="0">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3B82F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TECHNOLOGY</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Built on MERN Stack</a:t>
            </a:r>
          </a:p>
        </p:txBody>
      </p:sp>
      <p:sp>
        <p:nvSpPr>
          <p:cNvPr id="4" name="TextBox 3"/>
          <p:cNvSpPr txBox="1"/>
          <p:nvPr/>
        </p:nvSpPr>
        <p:spPr>
          <a:xfrm>
            <a:off x="731520" y="1417320"/>
            <a:ext cx="10698480" cy="365760"/>
          </a:xfrm>
          <a:prstGeom prst="rect">
            <a:avLst/>
          </a:prstGeom>
          <a:noFill/>
        </p:spPr>
        <p:txBody>
          <a:bodyPr wrap="square">
            <a:spAutoFit/>
          </a:bodyPr>
          <a:lstStyle/>
          <a:p>
            <a:pPr algn="l">
              <a:defRPr sz="1300" b="0">
                <a:solidFill>
                  <a:srgbClr val="CBD5E1"/>
                </a:solidFill>
                <a:latin typeface="Arial"/>
              </a:defRPr>
            </a:pPr>
            <a:r>
              <a:t>A powerful full-stack JavaScript framework used by Netflix, Instagram &amp; Uber</a:t>
            </a:r>
          </a:p>
        </p:txBody>
      </p:sp>
      <p:pic>
        <p:nvPicPr>
          <p:cNvPr id="5" name="Picture 4" descr="mern_stack.png"/>
          <p:cNvPicPr>
            <a:picLocks noChangeAspect="1"/>
          </p:cNvPicPr>
          <p:nvPr/>
        </p:nvPicPr>
        <p:blipFill>
          <a:blip r:embed="rId2"/>
          <a:stretch>
            <a:fillRect/>
          </a:stretch>
        </p:blipFill>
        <p:spPr>
          <a:xfrm>
            <a:off x="731520" y="1920240"/>
            <a:ext cx="6858000" cy="3474720"/>
          </a:xfrm>
          <a:prstGeom prst="rect">
            <a:avLst/>
          </a:prstGeom>
          <a:effectLst>
            <a:outerShdw blurRad="190500" dist="63500" dir="5400000" rotWithShape="0">
              <a:srgbClr val="000000">
                <a:alpha val="40000"/>
              </a:srgbClr>
            </a:outerShdw>
          </a:effectLst>
        </p:spPr>
      </p:pic>
      <p:sp>
        <p:nvSpPr>
          <p:cNvPr id="6" name="Rounded Rectangle 5"/>
          <p:cNvSpPr/>
          <p:nvPr/>
        </p:nvSpPr>
        <p:spPr>
          <a:xfrm>
            <a:off x="7863840" y="1920240"/>
            <a:ext cx="3657600" cy="274320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8B5CF6"/>
                </a:solidFill>
                <a:latin typeface="Arial"/>
              </a:defRPr>
            </a:pPr>
            <a:r>
              <a:t>Extra Power Tools:</a:t>
            </a:r>
          </a:p>
          <a:p>
            <a:pPr>
              <a:spcBef>
                <a:spcPts val="500"/>
              </a:spcBef>
              <a:defRPr sz="1200">
                <a:solidFill>
                  <a:srgbClr val="FFFFFF"/>
                </a:solidFill>
                <a:latin typeface="Arial"/>
              </a:defRPr>
            </a:pPr>
            <a:r>
              <a:t>• Sharp — C++ image engine (5x faster)</a:t>
            </a:r>
          </a:p>
          <a:p>
            <a:pPr>
              <a:spcBef>
                <a:spcPts val="500"/>
              </a:spcBef>
              <a:defRPr sz="1200">
                <a:solidFill>
                  <a:srgbClr val="FFFFFF"/>
                </a:solidFill>
                <a:latin typeface="Arial"/>
              </a:defRPr>
            </a:pPr>
            <a:r>
              <a:t>• PDF-Lib — vector PDF manipulation</a:t>
            </a:r>
          </a:p>
          <a:p>
            <a:pPr>
              <a:spcBef>
                <a:spcPts val="500"/>
              </a:spcBef>
              <a:defRPr sz="1200">
                <a:solidFill>
                  <a:srgbClr val="FFFFFF"/>
                </a:solidFill>
                <a:latin typeface="Arial"/>
              </a:defRPr>
            </a:pPr>
            <a:r>
              <a:t>• Tesseract.js — AI text recognition</a:t>
            </a:r>
          </a:p>
          <a:p>
            <a:pPr>
              <a:spcBef>
                <a:spcPts val="500"/>
              </a:spcBef>
              <a:defRPr sz="1200">
                <a:solidFill>
                  <a:srgbClr val="FFFFFF"/>
                </a:solidFill>
                <a:latin typeface="Arial"/>
              </a:defRPr>
            </a:pPr>
            <a:r>
              <a:t>• Mammoth — Word to PDF converter</a:t>
            </a:r>
          </a:p>
        </p:txBody>
      </p:sp>
      <p:sp>
        <p:nvSpPr>
          <p:cNvPr id="7" name="Rounded Rectangle 6"/>
          <p:cNvSpPr/>
          <p:nvPr/>
        </p:nvSpPr>
        <p:spPr>
          <a:xfrm>
            <a:off x="7863840" y="4846320"/>
            <a:ext cx="3657600" cy="137160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22C55E"/>
                </a:solidFill>
                <a:latin typeface="Arial"/>
              </a:defRPr>
            </a:pPr>
            <a:r>
              <a:t>Security Built-In:</a:t>
            </a:r>
          </a:p>
          <a:p>
            <a:pPr>
              <a:spcBef>
                <a:spcPts val="500"/>
              </a:spcBef>
              <a:defRPr sz="1200">
                <a:solidFill>
                  <a:srgbClr val="FFFFFF"/>
                </a:solidFill>
                <a:latin typeface="Arial"/>
              </a:defRPr>
            </a:pPr>
            <a:r>
              <a:t>• Helmet headers, CORS protection</a:t>
            </a:r>
          </a:p>
          <a:p>
            <a:pPr>
              <a:spcBef>
                <a:spcPts val="500"/>
              </a:spcBef>
              <a:defRPr sz="1200">
                <a:solidFill>
                  <a:srgbClr val="FFFFFF"/>
                </a:solidFill>
                <a:latin typeface="Arial"/>
              </a:defRPr>
            </a:pPr>
            <a:r>
              <a:t>• Rate limiting: 200 requests/15min</a:t>
            </a:r>
          </a:p>
          <a:p>
            <a:pPr>
              <a:spcBef>
                <a:spcPts val="500"/>
              </a:spcBef>
              <a:defRPr sz="1200">
                <a:solidFill>
                  <a:srgbClr val="FFFFFF"/>
                </a:solidFill>
                <a:latin typeface="Arial"/>
              </a:defRPr>
            </a:pPr>
            <a:r>
              <a:t>• Strict file type validation</a:t>
            </a:r>
          </a:p>
        </p:txBody>
      </p:sp>
      <p:sp>
        <p:nvSpPr>
          <p:cNvPr id="8" name="Rounded Rectangle 7"/>
          <p:cNvSpPr/>
          <p:nvPr/>
        </p:nvSpPr>
        <p:spPr>
          <a:xfrm>
            <a:off x="731520" y="6035040"/>
            <a:ext cx="10698480" cy="457200"/>
          </a:xfrm>
          <a:prstGeom prst="roundRect">
            <a:avLst/>
          </a:prstGeom>
          <a:solidFill>
            <a:srgbClr val="141E32"/>
          </a:solidFill>
          <a:ln w="12700">
            <a:solidFill>
              <a:srgbClr val="3B82F6"/>
            </a:solid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Arial"/>
              </a:defRPr>
            </a:pPr>
            <a:r>
              <a:t>MERN = MongoDB + Express.js + React.js + Node.js</a:t>
            </a:r>
          </a:p>
        </p:txBody>
      </p:sp>
    </p:spTree>
  </p:cSld>
  <p:clrMapOvr>
    <a:masterClrMapping/>
  </p:clrMapOvr>
  <p:transition spd="med" advTm="0">
    <p:wipe dir="d"/>
  </p:transition>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3B82F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OUR TOOLS</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114+ Tools — Everything You Need</a:t>
            </a:r>
          </a:p>
        </p:txBody>
      </p:sp>
      <p:pic>
        <p:nvPicPr>
          <p:cNvPr id="4" name="Picture 3" descr="tools_grid.png"/>
          <p:cNvPicPr>
            <a:picLocks noChangeAspect="1"/>
          </p:cNvPicPr>
          <p:nvPr/>
        </p:nvPicPr>
        <p:blipFill>
          <a:blip r:embed="rId2"/>
          <a:stretch>
            <a:fillRect/>
          </a:stretch>
        </p:blipFill>
        <p:spPr>
          <a:xfrm>
            <a:off x="731520" y="1737360"/>
            <a:ext cx="10698480" cy="4114800"/>
          </a:xfrm>
          <a:prstGeom prst="rect">
            <a:avLst/>
          </a:prstGeom>
          <a:effectLst>
            <a:outerShdw blurRad="190500" dist="63500" dir="5400000" rotWithShape="0">
              <a:srgbClr val="000000">
                <a:alpha val="40000"/>
              </a:srgbClr>
            </a:outerShdw>
          </a:effectLst>
        </p:spPr>
      </p:pic>
      <p:sp>
        <p:nvSpPr>
          <p:cNvPr id="5" name="Rounded Rectangle 4"/>
          <p:cNvSpPr/>
          <p:nvPr/>
        </p:nvSpPr>
        <p:spPr>
          <a:xfrm>
            <a:off x="731520" y="6035040"/>
            <a:ext cx="10698480" cy="457200"/>
          </a:xfrm>
          <a:prstGeom prst="roundRect">
            <a:avLst/>
          </a:prstGeom>
          <a:solidFill>
            <a:srgbClr val="141E32"/>
          </a:solidFill>
          <a:ln w="12700">
            <a:solidFill>
              <a:srgbClr val="3B82F6"/>
            </a:solid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Arial"/>
              </a:defRPr>
            </a:pPr>
            <a:r>
              <a:t>88 tools are live &amp; working  •  26 more coming soon  •  New tools added regularly</a:t>
            </a:r>
          </a:p>
        </p:txBody>
      </p:sp>
    </p:spTree>
  </p:cSld>
  <p:clrMapOvr>
    <a:masterClrMapping/>
  </p:clrMapOvr>
  <p:transition spd="med" advTm="0">
    <p:push dir="l"/>
  </p:transition>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F97316"/>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COMPARISON</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How PixelForge is Better?</a:t>
            </a:r>
          </a:p>
        </p:txBody>
      </p:sp>
      <p:pic>
        <p:nvPicPr>
          <p:cNvPr id="4" name="Picture 3" descr="comparison.png"/>
          <p:cNvPicPr>
            <a:picLocks noChangeAspect="1"/>
          </p:cNvPicPr>
          <p:nvPr/>
        </p:nvPicPr>
        <p:blipFill>
          <a:blip r:embed="rId2"/>
          <a:stretch>
            <a:fillRect/>
          </a:stretch>
        </p:blipFill>
        <p:spPr>
          <a:xfrm>
            <a:off x="731520" y="1645920"/>
            <a:ext cx="10698480" cy="3931920"/>
          </a:xfrm>
          <a:prstGeom prst="rect">
            <a:avLst/>
          </a:prstGeom>
          <a:effectLst>
            <a:outerShdw blurRad="190500" dist="63500" dir="5400000" rotWithShape="0">
              <a:srgbClr val="000000">
                <a:alpha val="40000"/>
              </a:srgbClr>
            </a:outerShdw>
          </a:effectLst>
          <a:sp3d extrusionH="12700">
            <a:bevelT w="63500" h="25400" prst="relaxedInset"/>
            <a:contourClr>
              <a:srgbClr val="3B82F6"/>
            </a:contourClr>
          </a:sp3d>
        </p:spPr>
      </p:pic>
      <p:sp>
        <p:nvSpPr>
          <p:cNvPr id="5" name="Rounded Rectangle 4"/>
          <p:cNvSpPr/>
          <p:nvPr/>
        </p:nvSpPr>
        <p:spPr>
          <a:xfrm>
            <a:off x="731520" y="6035040"/>
            <a:ext cx="10698480" cy="457200"/>
          </a:xfrm>
          <a:prstGeom prst="roundRect">
            <a:avLst/>
          </a:prstGeom>
          <a:solidFill>
            <a:srgbClr val="141E32"/>
          </a:solidFill>
          <a:ln w="12700">
            <a:solidFill>
              <a:srgbClr val="3B82F6"/>
            </a:solid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Arial"/>
              </a:defRPr>
            </a:pPr>
            <a:r>
              <a:t>PixelForge gives you MORE tools, ZERO cost, and BETTER privacy than any competitor</a:t>
            </a:r>
          </a:p>
        </p:txBody>
      </p:sp>
    </p:spTree>
  </p:cSld>
  <p:clrMapOvr>
    <a:masterClrMapping/>
  </p:clrMapOvr>
  <p:transition spd="med" advTm="0">
    <p:cover dir="l"/>
  </p:transition>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ounded Rectangle 1"/>
          <p:cNvSpPr/>
          <p:nvPr/>
        </p:nvSpPr>
        <p:spPr>
          <a:xfrm>
            <a:off x="731520" y="457200"/>
            <a:ext cx="2286000" cy="347472"/>
          </a:xfrm>
          <a:prstGeom prst="roundRect">
            <a:avLst/>
          </a:prstGeom>
          <a:solidFill>
            <a:srgbClr val="22C55E"/>
          </a:solidFill>
          <a:ln>
            <a:noFill/>
          </a:ln>
          <a:effectLst>
            <a:outerShdw blurRad="190500" dist="63500"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QUALITY ASSURANCE</a:t>
            </a:r>
          </a:p>
        </p:txBody>
      </p:sp>
      <p:sp>
        <p:nvSpPr>
          <p:cNvPr id="3" name="TextBox 2"/>
          <p:cNvSpPr txBox="1"/>
          <p:nvPr/>
        </p:nvSpPr>
        <p:spPr>
          <a:xfrm>
            <a:off x="731520" y="914400"/>
            <a:ext cx="10698480" cy="548640"/>
          </a:xfrm>
          <a:prstGeom prst="rect">
            <a:avLst/>
          </a:prstGeom>
          <a:noFill/>
        </p:spPr>
        <p:txBody>
          <a:bodyPr wrap="square">
            <a:spAutoFit/>
          </a:bodyPr>
          <a:lstStyle/>
          <a:p>
            <a:pPr algn="l">
              <a:defRPr sz="3000" b="1">
                <a:solidFill>
                  <a:srgbClr val="FFFFFF"/>
                </a:solidFill>
                <a:latin typeface="Arial"/>
              </a:defRPr>
            </a:pPr>
            <a:r>
              <a:t>Fully Tested &amp; Production Ready</a:t>
            </a:r>
          </a:p>
        </p:txBody>
      </p:sp>
      <p:sp>
        <p:nvSpPr>
          <p:cNvPr id="4" name="Rounded Rectangle 3"/>
          <p:cNvSpPr/>
          <p:nvPr/>
        </p:nvSpPr>
        <p:spPr>
          <a:xfrm>
            <a:off x="731520" y="1645920"/>
            <a:ext cx="2514600" cy="1463040"/>
          </a:xfrm>
          <a:prstGeom prst="roundRect">
            <a:avLst/>
          </a:prstGeom>
          <a:solidFill>
            <a:srgbClr val="1E293B"/>
          </a:solidFill>
          <a:ln w="25400">
            <a:solidFill>
              <a:srgbClr val="22C55E"/>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22C55E"/>
                </a:solidFill>
              </a:defRPr>
            </a:pPr>
            <a:r>
              <a:t>88 / 88</a:t>
            </a:r>
          </a:p>
          <a:p>
            <a:pPr algn="ctr">
              <a:defRPr sz="1300" b="1">
                <a:solidFill>
                  <a:srgbClr val="FFFFFF"/>
                </a:solidFill>
              </a:defRPr>
            </a:pPr>
            <a:r>
              <a:t>Tools Tested</a:t>
            </a:r>
          </a:p>
          <a:p>
            <a:pPr algn="ctr">
              <a:defRPr sz="1000">
                <a:solidFill>
                  <a:srgbClr val="CBD5E1"/>
                </a:solidFill>
              </a:defRPr>
            </a:pPr>
            <a:r>
              <a:t>All working!</a:t>
            </a:r>
          </a:p>
        </p:txBody>
      </p:sp>
      <p:sp>
        <p:nvSpPr>
          <p:cNvPr id="5" name="Rounded Rectangle 4"/>
          <p:cNvSpPr/>
          <p:nvPr/>
        </p:nvSpPr>
        <p:spPr>
          <a:xfrm>
            <a:off x="3520440" y="1645920"/>
            <a:ext cx="2514600" cy="1463040"/>
          </a:xfrm>
          <a:prstGeom prst="roundRect">
            <a:avLst/>
          </a:prstGeom>
          <a:solidFill>
            <a:srgbClr val="1E293B"/>
          </a:solidFill>
          <a:ln w="25400">
            <a:solidFill>
              <a:srgbClr val="3B82F6"/>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B82F6"/>
                </a:solidFill>
              </a:defRPr>
            </a:pPr>
            <a:r>
              <a:t>35 / 35</a:t>
            </a:r>
          </a:p>
          <a:p>
            <a:pPr algn="ctr">
              <a:defRPr sz="1300" b="1">
                <a:solidFill>
                  <a:srgbClr val="FFFFFF"/>
                </a:solidFill>
              </a:defRPr>
            </a:pPr>
            <a:r>
              <a:t>Unit Tests</a:t>
            </a:r>
          </a:p>
          <a:p>
            <a:pPr algn="ctr">
              <a:defRPr sz="1000">
                <a:solidFill>
                  <a:srgbClr val="CBD5E1"/>
                </a:solidFill>
              </a:defRPr>
            </a:pPr>
            <a:r>
              <a:t>All passing!</a:t>
            </a:r>
          </a:p>
        </p:txBody>
      </p:sp>
      <p:sp>
        <p:nvSpPr>
          <p:cNvPr id="6" name="Rounded Rectangle 5"/>
          <p:cNvSpPr/>
          <p:nvPr/>
        </p:nvSpPr>
        <p:spPr>
          <a:xfrm>
            <a:off x="6309360" y="1645920"/>
            <a:ext cx="2514600" cy="1463040"/>
          </a:xfrm>
          <a:prstGeom prst="roundRect">
            <a:avLst/>
          </a:prstGeom>
          <a:solidFill>
            <a:srgbClr val="1E293B"/>
          </a:solidFill>
          <a:ln w="25400">
            <a:solidFill>
              <a:srgbClr val="8B5CF6"/>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8B5CF6"/>
                </a:solidFill>
              </a:defRPr>
            </a:pPr>
            <a:r>
              <a:t>1.6 sec</a:t>
            </a:r>
          </a:p>
          <a:p>
            <a:pPr algn="ctr">
              <a:defRPr sz="1300" b="1">
                <a:solidFill>
                  <a:srgbClr val="FFFFFF"/>
                </a:solidFill>
              </a:defRPr>
            </a:pPr>
            <a:r>
              <a:t>Build Time</a:t>
            </a:r>
          </a:p>
          <a:p>
            <a:pPr algn="ctr">
              <a:defRPr sz="1000">
                <a:solidFill>
                  <a:srgbClr val="CBD5E1"/>
                </a:solidFill>
              </a:defRPr>
            </a:pPr>
            <a:r>
              <a:t>Fast build!</a:t>
            </a:r>
          </a:p>
        </p:txBody>
      </p:sp>
      <p:sp>
        <p:nvSpPr>
          <p:cNvPr id="7" name="Rounded Rectangle 6"/>
          <p:cNvSpPr/>
          <p:nvPr/>
        </p:nvSpPr>
        <p:spPr>
          <a:xfrm>
            <a:off x="9098280" y="1645920"/>
            <a:ext cx="2514600" cy="1463040"/>
          </a:xfrm>
          <a:prstGeom prst="roundRect">
            <a:avLst/>
          </a:prstGeom>
          <a:solidFill>
            <a:srgbClr val="1E293B"/>
          </a:solidFill>
          <a:ln w="25400">
            <a:solidFill>
              <a:srgbClr val="22C55E"/>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22C55E"/>
                </a:solidFill>
              </a:defRPr>
            </a:pPr>
            <a:r>
              <a:t>100%</a:t>
            </a:r>
          </a:p>
          <a:p>
            <a:pPr algn="ctr">
              <a:defRPr sz="1300" b="1">
                <a:solidFill>
                  <a:srgbClr val="FFFFFF"/>
                </a:solidFill>
              </a:defRPr>
            </a:pPr>
            <a:r>
              <a:t>Pass Rate</a:t>
            </a:r>
          </a:p>
          <a:p>
            <a:pPr algn="ctr">
              <a:defRPr sz="1000">
                <a:solidFill>
                  <a:srgbClr val="CBD5E1"/>
                </a:solidFill>
              </a:defRPr>
            </a:pPr>
            <a:r>
              <a:t>Zero bugs!</a:t>
            </a:r>
          </a:p>
        </p:txBody>
      </p:sp>
      <p:sp>
        <p:nvSpPr>
          <p:cNvPr id="8" name="Rounded Rectangle 7"/>
          <p:cNvSpPr/>
          <p:nvPr/>
        </p:nvSpPr>
        <p:spPr>
          <a:xfrm>
            <a:off x="731520" y="3383280"/>
            <a:ext cx="10698480" cy="246888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22C55E"/>
                </a:solidFill>
                <a:latin typeface="Arial"/>
              </a:defRPr>
            </a:pPr>
            <a:r>
              <a:t>Bugs Found &amp; Fixed During Testing:</a:t>
            </a:r>
          </a:p>
          <a:p>
            <a:pPr>
              <a:spcBef>
                <a:spcPts val="500"/>
              </a:spcBef>
              <a:defRPr sz="1200">
                <a:solidFill>
                  <a:srgbClr val="FFFFFF"/>
                </a:solidFill>
                <a:latin typeface="Arial"/>
              </a:defRPr>
            </a:pPr>
            <a:r>
              <a:t>✅  Fixed PDF upload issue — all 16 PDF tools now work perfectly</a:t>
            </a:r>
          </a:p>
          <a:p>
            <a:pPr>
              <a:spcBef>
                <a:spcPts val="500"/>
              </a:spcBef>
              <a:defRPr sz="1200">
                <a:solidFill>
                  <a:srgbClr val="FFFFFF"/>
                </a:solidFill>
                <a:latin typeface="Arial"/>
              </a:defRPr>
            </a:pPr>
            <a:r>
              <a:t>✅  Fixed AI tool routing — background removal &amp; OCR now go to correct server</a:t>
            </a:r>
          </a:p>
          <a:p>
            <a:pPr>
              <a:spcBef>
                <a:spcPts val="500"/>
              </a:spcBef>
              <a:defRPr sz="1200">
                <a:solidFill>
                  <a:srgbClr val="FFFFFF"/>
                </a:solidFill>
                <a:latin typeface="Arial"/>
              </a:defRPr>
            </a:pPr>
            <a:r>
              <a:t>✅  Fixed security issue — blocked unauthorized website access (CORS fix)</a:t>
            </a:r>
          </a:p>
          <a:p>
            <a:pPr>
              <a:spcBef>
                <a:spcPts val="500"/>
              </a:spcBef>
              <a:defRPr sz="1200">
                <a:solidFill>
                  <a:srgbClr val="FFFFFF"/>
                </a:solidFill>
                <a:latin typeface="Arial"/>
              </a:defRPr>
            </a:pPr>
            <a:r>
              <a:t>✅  Fixed file storage — works correctly even with multiple server instances</a:t>
            </a:r>
          </a:p>
          <a:p>
            <a:pPr>
              <a:spcBef>
                <a:spcPts val="500"/>
              </a:spcBef>
              <a:defRPr sz="1200">
                <a:solidFill>
                  <a:srgbClr val="FFFFFF"/>
                </a:solidFill>
                <a:latin typeface="Arial"/>
              </a:defRPr>
            </a:pPr>
          </a:p>
          <a:p>
            <a:pPr>
              <a:spcBef>
                <a:spcPts val="500"/>
              </a:spcBef>
              <a:defRPr sz="1200">
                <a:solidFill>
                  <a:srgbClr val="FFFFFF"/>
                </a:solidFill>
                <a:latin typeface="Arial"/>
              </a:defRPr>
            </a:pPr>
            <a:r>
              <a:t>All issues discovered, fixed, and independently re-verified!</a:t>
            </a:r>
          </a:p>
        </p:txBody>
      </p:sp>
    </p:spTree>
  </p:cSld>
  <p:clrMapOvr>
    <a:masterClrMapping/>
  </p:clrMapOvr>
  <p:transition spd="med" advTm="0">
    <p:push dir="l"/>
  </p:transition>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E2846"/>
            </a:gs>
          </a:gsLst>
          <a:lin scaled="0"/>
        </a:gradFill>
        <a:effectLst/>
      </p:bgPr>
    </p:bg>
    <p:spTree>
      <p:nvGrpSpPr>
        <p:cNvPr id="1" name=""/>
        <p:cNvGrpSpPr/>
        <p:nvPr/>
      </p:nvGrpSpPr>
      <p:grpSpPr/>
      <p:sp>
        <p:nvSpPr>
          <p:cNvPr id="2" name="Rectangle 1"/>
          <p:cNvSpPr/>
          <p:nvPr/>
        </p:nvSpPr>
        <p:spPr>
          <a:xfrm>
            <a:off x="4114800" y="1371600"/>
            <a:ext cx="39319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0152" cy="914400"/>
          </a:xfrm>
          <a:prstGeom prst="rect">
            <a:avLst/>
          </a:prstGeom>
          <a:noFill/>
        </p:spPr>
        <p:txBody>
          <a:bodyPr wrap="square">
            <a:spAutoFit/>
          </a:bodyPr>
          <a:lstStyle/>
          <a:p>
            <a:pPr algn="ctr">
              <a:defRPr sz="5200" b="1">
                <a:solidFill>
                  <a:srgbClr val="FFFFFF"/>
                </a:solidFill>
                <a:latin typeface="Arial"/>
              </a:defRPr>
            </a:pPr>
            <a:r>
              <a:t>Thank You!</a:t>
            </a:r>
          </a:p>
        </p:txBody>
      </p:sp>
      <p:sp>
        <p:nvSpPr>
          <p:cNvPr id="4" name="TextBox 3"/>
          <p:cNvSpPr txBox="1"/>
          <p:nvPr/>
        </p:nvSpPr>
        <p:spPr>
          <a:xfrm>
            <a:off x="1371600" y="2651760"/>
            <a:ext cx="9445752" cy="548640"/>
          </a:xfrm>
          <a:prstGeom prst="rect">
            <a:avLst/>
          </a:prstGeom>
          <a:noFill/>
        </p:spPr>
        <p:txBody>
          <a:bodyPr wrap="square">
            <a:spAutoFit/>
          </a:bodyPr>
          <a:lstStyle/>
          <a:p>
            <a:pPr algn="ctr">
              <a:defRPr sz="2200" b="0">
                <a:solidFill>
                  <a:srgbClr val="3B82F6"/>
                </a:solidFill>
                <a:latin typeface="Arial"/>
              </a:defRPr>
            </a:pPr>
            <a:r>
              <a:t>Questions &amp; Discussion</a:t>
            </a:r>
          </a:p>
        </p:txBody>
      </p:sp>
      <p:sp>
        <p:nvSpPr>
          <p:cNvPr id="5" name="Rectangle 4"/>
          <p:cNvSpPr/>
          <p:nvPr/>
        </p:nvSpPr>
        <p:spPr>
          <a:xfrm>
            <a:off x="4572000" y="3383280"/>
            <a:ext cx="301752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86000" y="3657600"/>
            <a:ext cx="7616952" cy="2011680"/>
          </a:xfrm>
          <a:prstGeom prst="roundRect">
            <a:avLst/>
          </a:prstGeom>
          <a:solidFill>
            <a:srgbClr val="1E293B"/>
          </a:solidFill>
          <a:ln w="12700">
            <a:solidFill>
              <a:srgbClr val="334155"/>
            </a:solidFill>
          </a:ln>
          <a:effectLst>
            <a:outerShdw blurRad="190500" dist="63500" dir="5400000" rotWithShape="0">
              <a:srgbClr val="000000">
                <a:alpha val="40000"/>
              </a:srgbClr>
            </a:outerShdw>
          </a:effectLst>
          <a:sp3d extrusionH="25400">
            <a:bevelT w="63500" h="25400" prst="relaxedInset"/>
            <a:contourClr>
              <a:srgbClr val="3B82F6"/>
            </a:contourClr>
          </a:sp3d>
        </p:spPr>
        <p:style>
          <a:lnRef idx="1">
            <a:schemeClr val="accent1"/>
          </a:lnRef>
          <a:fillRef idx="3">
            <a:schemeClr val="accent1"/>
          </a:fillRef>
          <a:effectRef idx="2">
            <a:schemeClr val="accent1"/>
          </a:effectRef>
          <a:fontRef idx="minor">
            <a:schemeClr val="lt1"/>
          </a:fontRef>
        </p:style>
        <p:txBody>
          <a:bodyPr rtlCol="0" anchor="ctr" wrap="square" lIns="274320" rIns="228600" tIns="182880" bIns="182880"/>
          <a:lstStyle/>
          <a:p>
            <a:pPr algn="ctr">
              <a:spcAft>
                <a:spcPts val="800"/>
              </a:spcAft>
              <a:defRPr sz="1600" b="1">
                <a:solidFill>
                  <a:srgbClr val="3B82F6"/>
                </a:solidFill>
                <a:latin typeface="Arial"/>
              </a:defRPr>
            </a:pPr>
            <a:r>
              <a:t>What We Built:</a:t>
            </a:r>
          </a:p>
          <a:p>
            <a:pPr>
              <a:spcBef>
                <a:spcPts val="500"/>
              </a:spcBef>
              <a:defRPr sz="1200">
                <a:solidFill>
                  <a:srgbClr val="FFFFFF"/>
                </a:solidFill>
                <a:latin typeface="Arial"/>
              </a:defRPr>
            </a:pPr>
            <a:r>
              <a:t>✅  114+ Image, PDF &amp; AI tools in one free platform</a:t>
            </a:r>
          </a:p>
          <a:p>
            <a:pPr>
              <a:spcBef>
                <a:spcPts val="500"/>
              </a:spcBef>
              <a:defRPr sz="1200">
                <a:solidFill>
                  <a:srgbClr val="FFFFFF"/>
                </a:solidFill>
                <a:latin typeface="Arial"/>
              </a:defRPr>
            </a:pPr>
            <a:r>
              <a:t>✅  Built on modern MERN stack with native C++ engines</a:t>
            </a:r>
          </a:p>
          <a:p>
            <a:pPr>
              <a:spcBef>
                <a:spcPts val="500"/>
              </a:spcBef>
              <a:defRPr sz="1200">
                <a:solidFill>
                  <a:srgbClr val="FFFFFF"/>
                </a:solidFill>
                <a:latin typeface="Arial"/>
              </a:defRPr>
            </a:pPr>
            <a:r>
              <a:t>✅  5x faster processing than competitor websites</a:t>
            </a:r>
          </a:p>
          <a:p>
            <a:pPr>
              <a:spcBef>
                <a:spcPts val="500"/>
              </a:spcBef>
              <a:defRPr sz="1200">
                <a:solidFill>
                  <a:srgbClr val="FFFFFF"/>
                </a:solidFill>
                <a:latin typeface="Arial"/>
              </a:defRPr>
            </a:pPr>
            <a:r>
              <a:t>✅  100% free, no ads, and auto-deletes files for privacy</a:t>
            </a:r>
          </a:p>
        </p:txBody>
      </p:sp>
      <p:sp>
        <p:nvSpPr>
          <p:cNvPr id="7" name="TextBox 6"/>
          <p:cNvSpPr txBox="1"/>
          <p:nvPr/>
        </p:nvSpPr>
        <p:spPr>
          <a:xfrm>
            <a:off x="914400" y="5852160"/>
            <a:ext cx="10360152" cy="365760"/>
          </a:xfrm>
          <a:prstGeom prst="rect">
            <a:avLst/>
          </a:prstGeom>
          <a:noFill/>
        </p:spPr>
        <p:txBody>
          <a:bodyPr wrap="square">
            <a:spAutoFit/>
          </a:bodyPr>
          <a:lstStyle/>
          <a:p>
            <a:pPr algn="ctr">
              <a:defRPr sz="1400" b="1">
                <a:solidFill>
                  <a:srgbClr val="CBD5E1"/>
                </a:solidFill>
                <a:latin typeface="Arial"/>
              </a:defRPr>
            </a:pPr>
            <a:r>
              <a:t>Muhammad Ali Raza  •  BS Computer Science  •  pixelforge.io</a:t>
            </a:r>
          </a:p>
        </p:txBody>
      </p:sp>
      <p:sp>
        <p:nvSpPr>
          <p:cNvPr id="8" name="Rectangle 7"/>
          <p:cNvSpPr/>
          <p:nvPr/>
        </p:nvSpPr>
        <p:spPr>
          <a:xfrm>
            <a:off x="4114800" y="6309360"/>
            <a:ext cx="39319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Tm="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